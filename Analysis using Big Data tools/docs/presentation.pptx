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useoModerno Medium" panose="020B0604020202020204" charset="0"/>
      <p:regular r:id="rId19"/>
    </p:embeddedFont>
    <p:embeddedFont>
      <p:font typeface="Source Sans 3" panose="020B0604020202020204" charset="0"/>
      <p:regular r:id="rId20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3447" autoAdjust="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460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6386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24E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Big Data Analytics on Netflix Dataset</a:t>
            </a:r>
            <a:endParaRPr lang="en-US" sz="27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2306538"/>
            <a:ext cx="21901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Using Hadoop Ecosystem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740596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Nayab Khalid                 (SP23-BDS-039)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126879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Noor ul huda batool   (SP23-BDS-040)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3513162"/>
            <a:ext cx="589955" cy="266402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1174" y="3555653"/>
            <a:ext cx="4198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HADOOP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156915" y="3513162"/>
            <a:ext cx="883146" cy="266402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1241971" y="3555653"/>
            <a:ext cx="71303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APACHE SPARK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10904" y="3513162"/>
            <a:ext cx="793775" cy="266402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2195959" y="3555653"/>
            <a:ext cx="6236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APACHE HIVE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975521" y="3513162"/>
            <a:ext cx="492472" cy="266402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3060576" y="3555653"/>
            <a:ext cx="32236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HBASE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627E49-2ADD-F1CF-8BAD-840FB36E8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086" y="4873620"/>
            <a:ext cx="1338914" cy="254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276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7926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applies the Hadoop ecosystem to analyze Netflix's large-scale entertainment dataset — extracting user and business insights through distributed processing.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92362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53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HDFS Ingestion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75957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 loaded into distributed HDFS storage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992362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453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Spark Processing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2759571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cleaning and analytics via PySpark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992362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453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Hive Queries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2759571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SQL-style querying on structured data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496717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9574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HBase Storage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96119" y="426392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NoSQL storage for analytics results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496717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72433" y="39574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272433" y="426392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&amp; Jupyter Notebook dashboards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A67D15E-CF06-4C1F-4359-9E994CC14F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5086" y="4873620"/>
            <a:ext cx="1338914" cy="254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627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Dataset Description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78931"/>
            <a:ext cx="48376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83325" y="14408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Netflix Titles CSV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86333" y="1789435"/>
            <a:ext cx="29681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publicly available dataset cataloging Netflix's content library — spanning movies, TV shows, and original productions across global markets.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86333" y="2637734"/>
            <a:ext cx="29681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columns: </a:t>
            </a:r>
            <a:r>
              <a:rPr lang="en-US" sz="11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show_id, type, title, director, cast, country, date_added, release_year, rating, duration, listed_in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612282"/>
            <a:ext cx="2622724" cy="854943"/>
          </a:xfrm>
          <a:prstGeom prst="roundRect">
            <a:avLst>
              <a:gd name="adj" fmla="val 2487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56927" y="37730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~15000 Rows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6927" y="4079602"/>
            <a:ext cx="23011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Content entries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3612282"/>
            <a:ext cx="2622724" cy="854943"/>
          </a:xfrm>
          <a:prstGeom prst="roundRect">
            <a:avLst>
              <a:gd name="adj" fmla="val 2487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421410" y="37730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11 Columns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21410" y="4079602"/>
            <a:ext cx="23011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Attributes per record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3612282"/>
            <a:ext cx="2622724" cy="854943"/>
          </a:xfrm>
          <a:prstGeom prst="roundRect">
            <a:avLst>
              <a:gd name="adj" fmla="val 2487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185892" y="37730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CSV Format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85892" y="4079602"/>
            <a:ext cx="23011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Comma-separated values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FA8A2E-1239-96B1-96C5-7E164DB110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0" t="37116" r="2215" b="1676"/>
          <a:stretch>
            <a:fillRect/>
          </a:stretch>
        </p:blipFill>
        <p:spPr>
          <a:xfrm>
            <a:off x="337103" y="1420229"/>
            <a:ext cx="5241860" cy="17445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08BAE2-76A6-8785-51D8-933223B89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086" y="4873620"/>
            <a:ext cx="1338914" cy="25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373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Tools &amp; Technologies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00237"/>
            <a:ext cx="7200081" cy="2883247"/>
          </a:xfrm>
          <a:prstGeom prst="roundRect">
            <a:avLst>
              <a:gd name="adj" fmla="val 73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642714" y="1394817"/>
            <a:ext cx="29709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01976" y="1394817"/>
            <a:ext cx="45993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Purpose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2714" y="1806029"/>
            <a:ext cx="29709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Hadoop HDFS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01976" y="1806029"/>
            <a:ext cx="45993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Distributed file storage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2714" y="2217241"/>
            <a:ext cx="29709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Apache Spark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01976" y="2217241"/>
            <a:ext cx="45993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cleaning &amp; analytics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714" y="2628454"/>
            <a:ext cx="29709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Apache Hive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01976" y="2628454"/>
            <a:ext cx="45993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 querying on big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14" y="3039666"/>
            <a:ext cx="29709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01976" y="3039666"/>
            <a:ext cx="45993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NoSQL columnar storage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714" y="3450878"/>
            <a:ext cx="29709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01976" y="3450878"/>
            <a:ext cx="45993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development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3862090"/>
            <a:ext cx="29709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/ PySpark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01976" y="3862090"/>
            <a:ext cx="45993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processing &amp; visualization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4342954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CSV data flows through the Hadoop ecosystem, from ingestion to distributed processing, querying, and final visualization.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8BB14A1-E5C7-7772-3A99-B96A96969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086" y="4873620"/>
            <a:ext cx="1338914" cy="254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5050"/>
            <a:ext cx="363222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HDFS Data Ingestion</a:t>
            </a:r>
            <a:endParaRPr lang="en-US" sz="2750" b="1" dirty="0"/>
          </a:p>
        </p:txBody>
      </p:sp>
      <p:sp>
        <p:nvSpPr>
          <p:cNvPr id="3" name="Text 1"/>
          <p:cNvSpPr/>
          <p:nvPr/>
        </p:nvSpPr>
        <p:spPr>
          <a:xfrm>
            <a:off x="496119" y="14323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Uploading to HDFS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79561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Netflix CSV was uploaded to HDFS, enabling fault-tolerant, distributed storage across the cluster.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408709"/>
            <a:ext cx="3902943" cy="963960"/>
          </a:xfrm>
          <a:prstGeom prst="roundRect">
            <a:avLst>
              <a:gd name="adj" fmla="val 2206"/>
            </a:avLst>
          </a:prstGeom>
          <a:solidFill>
            <a:srgbClr val="F2EFE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89049" y="2408709"/>
            <a:ext cx="3917082" cy="1197842"/>
          </a:xfrm>
          <a:prstGeom prst="roundRect">
            <a:avLst>
              <a:gd name="adj" fmla="val 2206"/>
            </a:avLst>
          </a:prstGeom>
          <a:solidFill>
            <a:srgbClr val="F2EFE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666229" y="2550468"/>
            <a:ext cx="35627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-mkdir -p /project/netflix/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-put netflix_titles.csv /project/netflix/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-ls /project/netflix/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0398" y="1627287"/>
            <a:ext cx="3300487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691607"/>
            <a:ext cx="2622724" cy="816843"/>
          </a:xfrm>
          <a:prstGeom prst="roundRect">
            <a:avLst>
              <a:gd name="adj" fmla="val 2603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637877" y="38333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Distributed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877" y="4139878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Blocks replicated across nodes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60601" y="3691607"/>
            <a:ext cx="2622724" cy="816843"/>
          </a:xfrm>
          <a:prstGeom prst="roundRect">
            <a:avLst>
              <a:gd name="adj" fmla="val 2603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402360" y="38333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Fault-Tolerant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402360" y="4139878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replication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25083" y="3691607"/>
            <a:ext cx="2622724" cy="816843"/>
          </a:xfrm>
          <a:prstGeom prst="roundRect">
            <a:avLst>
              <a:gd name="adj" fmla="val 2603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166842" y="38333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Scalable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166842" y="4139878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petabytes of data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BFAF990-738D-2494-E04E-7D7D93E91D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0" r="14357" b="33755"/>
          <a:stretch>
            <a:fillRect/>
          </a:stretch>
        </p:blipFill>
        <p:spPr bwMode="auto">
          <a:xfrm>
            <a:off x="4569172" y="2249239"/>
            <a:ext cx="4071566" cy="13450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3FD806F-8005-EF20-7578-3E7572DDD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086" y="4873620"/>
            <a:ext cx="1338914" cy="25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1093"/>
            <a:ext cx="44065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Cleaning with Spark</a:t>
            </a:r>
            <a:endParaRPr lang="en-US" sz="2750" b="1" dirty="0"/>
          </a:p>
        </p:txBody>
      </p:sp>
      <p:sp>
        <p:nvSpPr>
          <p:cNvPr id="3" name="Text 1"/>
          <p:cNvSpPr/>
          <p:nvPr/>
        </p:nvSpPr>
        <p:spPr>
          <a:xfrm>
            <a:off x="496119" y="13284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Preprocessing Steps</a:t>
            </a:r>
            <a:endParaRPr lang="en-US" sz="1350" b="1" dirty="0"/>
          </a:p>
        </p:txBody>
      </p:sp>
      <p:sp>
        <p:nvSpPr>
          <p:cNvPr id="4" name="Text 2"/>
          <p:cNvSpPr/>
          <p:nvPr/>
        </p:nvSpPr>
        <p:spPr>
          <a:xfrm>
            <a:off x="496119" y="1691655"/>
            <a:ext cx="4296861" cy="132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Removed null and duplicate records</a:t>
            </a:r>
            <a:endParaRPr lang="en-US" sz="1200" dirty="0"/>
          </a:p>
          <a:p>
            <a:pPr marL="342900" indent="-342900" algn="l">
              <a:lnSpc>
                <a:spcPts val="175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Handled missing director, cast, and country fields</a:t>
            </a:r>
            <a:endParaRPr lang="en-US" sz="1200" dirty="0"/>
          </a:p>
          <a:p>
            <a:pPr marL="342900" indent="-342900" algn="l">
              <a:lnSpc>
                <a:spcPts val="175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Standardized date formats</a:t>
            </a:r>
            <a:endParaRPr lang="en-US" sz="1200" dirty="0"/>
          </a:p>
          <a:p>
            <a:pPr marL="342900" indent="-342900" algn="l">
              <a:lnSpc>
                <a:spcPts val="175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derived columns for deeper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7664" y="31815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Derived Fields</a:t>
            </a:r>
            <a:endParaRPr lang="en-US" sz="1350" b="1" dirty="0"/>
          </a:p>
        </p:txBody>
      </p:sp>
      <p:sp>
        <p:nvSpPr>
          <p:cNvPr id="12" name="Shape 8"/>
          <p:cNvSpPr/>
          <p:nvPr/>
        </p:nvSpPr>
        <p:spPr>
          <a:xfrm>
            <a:off x="496119" y="3757389"/>
            <a:ext cx="2622724" cy="854943"/>
          </a:xfrm>
          <a:prstGeom prst="roundRect">
            <a:avLst>
              <a:gd name="adj" fmla="val 10695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9"/>
          <p:cNvSpPr/>
          <p:nvPr/>
        </p:nvSpPr>
        <p:spPr>
          <a:xfrm>
            <a:off x="477069" y="3757389"/>
            <a:ext cx="76200" cy="854943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0"/>
          <p:cNvSpPr/>
          <p:nvPr/>
        </p:nvSpPr>
        <p:spPr>
          <a:xfrm>
            <a:off x="714077" y="39181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content_age</a:t>
            </a:r>
            <a:endParaRPr lang="en-US" sz="1400" b="1" dirty="0"/>
          </a:p>
        </p:txBody>
      </p:sp>
      <p:sp>
        <p:nvSpPr>
          <p:cNvPr id="15" name="Text 11"/>
          <p:cNvSpPr/>
          <p:nvPr/>
        </p:nvSpPr>
        <p:spPr>
          <a:xfrm>
            <a:off x="714077" y="4224710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Years since release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60601" y="3757389"/>
            <a:ext cx="2622724" cy="854943"/>
          </a:xfrm>
          <a:prstGeom prst="roundRect">
            <a:avLst>
              <a:gd name="adj" fmla="val 10695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7" name="Shape 13"/>
          <p:cNvSpPr/>
          <p:nvPr/>
        </p:nvSpPr>
        <p:spPr>
          <a:xfrm>
            <a:off x="3241551" y="3757389"/>
            <a:ext cx="76200" cy="854943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4"/>
          <p:cNvSpPr/>
          <p:nvPr/>
        </p:nvSpPr>
        <p:spPr>
          <a:xfrm>
            <a:off x="3478560" y="39181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400" b="1" dirty="0" err="1">
                <a:latin typeface="MuseoModerno Medium" panose="020B0604020202020204" charset="0"/>
              </a:rPr>
              <a:t>added_year</a:t>
            </a:r>
            <a:r>
              <a:rPr lang="en-US" sz="1400" dirty="0">
                <a:latin typeface="MuseoModerno Medium" panose="020B0604020202020204" charset="0"/>
              </a:rPr>
              <a:t> </a:t>
            </a:r>
            <a:endParaRPr lang="en-US" sz="1350" dirty="0">
              <a:latin typeface="MuseoModerno Medium" panose="020B060402020202020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478560" y="4224710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Release decade grouping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25083" y="3757389"/>
            <a:ext cx="2622724" cy="854943"/>
          </a:xfrm>
          <a:prstGeom prst="roundRect">
            <a:avLst>
              <a:gd name="adj" fmla="val 10695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6006033" y="3757389"/>
            <a:ext cx="76200" cy="854943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6243042" y="39181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400" b="1" dirty="0" err="1">
                <a:latin typeface="MuseoModerno Medium" panose="020B0604020202020204" charset="0"/>
              </a:rPr>
              <a:t>date_added</a:t>
            </a:r>
            <a:endParaRPr lang="en-US" sz="1350" b="1" dirty="0">
              <a:latin typeface="MuseoModerno Medium" panose="020B0604020202020204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243042" y="4224710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Short / Medium / Long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6BABE78-21C5-92E1-937A-9177F0B72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880" y="34866"/>
            <a:ext cx="3881120" cy="35617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131C862-95A8-CA10-F06A-A54136309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086" y="4873620"/>
            <a:ext cx="1338914" cy="254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354" y="324478"/>
            <a:ext cx="3902646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Hive Table Creation &amp; Queries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83344" y="966080"/>
            <a:ext cx="179416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External Hive Table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683344" y="1412312"/>
            <a:ext cx="3821088" cy="97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200"/>
              </a:lnSpc>
              <a:buNone/>
            </a:pPr>
            <a:endParaRPr lang="en-US" sz="1200" dirty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just">
              <a:lnSpc>
                <a:spcPts val="12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external Hive table was created over the cleaned HDFS dataset, enabling SQL-style analytics at scale.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9354" y="2398737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Sample Queries</a:t>
            </a:r>
            <a:endParaRPr lang="en-US" sz="1050" b="1" dirty="0"/>
          </a:p>
        </p:txBody>
      </p:sp>
      <p:sp>
        <p:nvSpPr>
          <p:cNvPr id="9" name="Shape 7"/>
          <p:cNvSpPr/>
          <p:nvPr/>
        </p:nvSpPr>
        <p:spPr>
          <a:xfrm>
            <a:off x="669354" y="2778495"/>
            <a:ext cx="3745960" cy="1494995"/>
          </a:xfrm>
          <a:prstGeom prst="roundRect">
            <a:avLst>
              <a:gd name="adj" fmla="val 1120"/>
            </a:avLst>
          </a:prstGeom>
          <a:solidFill>
            <a:srgbClr val="F2EFE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83815" y="2879607"/>
            <a:ext cx="3420145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850" dirty="0" err="1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release_year</a:t>
            </a:r>
            <a:r>
              <a:rPr lang="en-US" sz="8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type, COUNT(*) AS </a:t>
            </a:r>
            <a:r>
              <a:rPr lang="en-US" sz="850" dirty="0" err="1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total_titles</a:t>
            </a:r>
            <a:endParaRPr lang="en-US" sz="8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</a:rPr>
              <a:t>FROM </a:t>
            </a:r>
            <a:r>
              <a:rPr lang="en-US" sz="850" dirty="0" err="1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</a:rPr>
              <a:t>netflix_data</a:t>
            </a:r>
            <a:endParaRPr lang="en-US" sz="850" dirty="0">
              <a:solidFill>
                <a:srgbClr val="D73A49"/>
              </a:solidFill>
              <a:highlight>
                <a:srgbClr val="F2EFE8"/>
              </a:highlight>
              <a:latin typeface="Consolas" pitchFamily="34" charset="0"/>
            </a:endParaRPr>
          </a:p>
          <a:p>
            <a:pPr marL="0" indent="0" algn="l">
              <a:lnSpc>
                <a:spcPts val="1200"/>
              </a:lnSpc>
              <a:buNone/>
            </a:pPr>
            <a:endParaRPr lang="en-US" sz="850" dirty="0">
              <a:solidFill>
                <a:srgbClr val="D73A49"/>
              </a:solidFill>
              <a:highlight>
                <a:srgbClr val="F2EFE8"/>
              </a:highlight>
              <a:latin typeface="Consolas" pitchFamily="34" charset="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</a:rPr>
              <a:t>GROUP BY </a:t>
            </a:r>
            <a:r>
              <a:rPr lang="en-US" sz="850" dirty="0" err="1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</a:rPr>
              <a:t>release_year</a:t>
            </a:r>
            <a:r>
              <a:rPr lang="en-US" sz="8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</a:rPr>
              <a:t>, type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850" dirty="0">
              <a:solidFill>
                <a:srgbClr val="D73A49"/>
              </a:solidFill>
              <a:highlight>
                <a:srgbClr val="F2EFE8"/>
              </a:highlight>
              <a:latin typeface="Consolas" pitchFamily="34" charset="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</a:rPr>
              <a:t>ORDER BY </a:t>
            </a:r>
            <a:r>
              <a:rPr lang="en-US" sz="850" dirty="0" err="1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</a:rPr>
              <a:t>release_year</a:t>
            </a:r>
            <a:r>
              <a:rPr lang="en-US" sz="8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</a:rPr>
              <a:t> DESC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44DEC0-9C9C-2242-059C-48E73598AD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" t="28837" r="20000" b="5238"/>
          <a:stretch>
            <a:fillRect/>
          </a:stretch>
        </p:blipFill>
        <p:spPr>
          <a:xfrm>
            <a:off x="5241354" y="-9183"/>
            <a:ext cx="3902646" cy="26991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12B57B-30DE-F9AB-378F-815934DC36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10" t="27586" r="32820" b="1423"/>
          <a:stretch>
            <a:fillRect/>
          </a:stretch>
        </p:blipFill>
        <p:spPr>
          <a:xfrm>
            <a:off x="5241354" y="2699186"/>
            <a:ext cx="3902646" cy="2444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9325"/>
            <a:ext cx="446462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Advanced Spark Analytics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02832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PySpark aggregations revealed key patterns across content type, genre, geography, and release trends.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FCBF30-710B-8AB8-2798-DE1B0A755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94" y="1291843"/>
            <a:ext cx="3907706" cy="18787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01B51FA-5E4A-48C0-94DC-A2B8BDFA5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277897"/>
            <a:ext cx="2239465" cy="1892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28CABDB-7E1E-5B29-EEDF-D26608D3C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133" y="2995040"/>
            <a:ext cx="4595567" cy="2095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1EBBD08-9573-B631-DF3E-7629F1F2E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3" y="3022754"/>
            <a:ext cx="4343398" cy="2055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54434"/>
            <a:ext cx="27688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HBase Integration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916781"/>
            <a:ext cx="164827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Storing Results in HBase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0912" y="1176263"/>
            <a:ext cx="368595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analytics metrics were persisted in HBase for fast, random-access retrieval — ideal for dashboards and APIs.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50912" y="1589112"/>
            <a:ext cx="3685952" cy="1641277"/>
          </a:xfrm>
          <a:prstGeom prst="roundRect">
            <a:avLst>
              <a:gd name="adj" fmla="val 1012"/>
            </a:avLst>
          </a:prstGeom>
          <a:solidFill>
            <a:srgbClr val="F2EFE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45406" y="1589112"/>
            <a:ext cx="3696965" cy="1641277"/>
          </a:xfrm>
          <a:prstGeom prst="roundRect">
            <a:avLst>
              <a:gd name="adj" fmla="val 1012"/>
            </a:avLst>
          </a:prstGeom>
          <a:solidFill>
            <a:srgbClr val="F2EFE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883816" y="1699840"/>
            <a:ext cx="3420145" cy="1419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endParaRPr lang="en-US" sz="10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chemeClr val="accent2"/>
                </a:solidFill>
                <a:latin typeface="Consolas" panose="020B0609020204030204" pitchFamily="49" charset="0"/>
              </a:rPr>
              <a:t>SELECT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chemeClr val="accent2"/>
                </a:solidFill>
                <a:latin typeface="Consolas" panose="020B0609020204030204" pitchFamily="49" charset="0"/>
              </a:rPr>
              <a:t>country,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chemeClr val="accent2"/>
                </a:solidFill>
                <a:latin typeface="Consolas" panose="020B0609020204030204" pitchFamily="49" charset="0"/>
              </a:rPr>
              <a:t>COUNT(*) AS </a:t>
            </a:r>
            <a:r>
              <a:rPr lang="en-US" sz="1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total_titles</a:t>
            </a:r>
            <a:r>
              <a:rPr lang="en-US" sz="1000" dirty="0">
                <a:solidFill>
                  <a:schemeClr val="accent2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chemeClr val="accent2"/>
                </a:solidFill>
                <a:latin typeface="Consolas" panose="020B0609020204030204" pitchFamily="49" charset="0"/>
              </a:rPr>
              <a:t>MAX(</a:t>
            </a:r>
            <a:r>
              <a:rPr lang="en-US" sz="1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listed_in</a:t>
            </a:r>
            <a:r>
              <a:rPr lang="en-US" sz="1000" dirty="0">
                <a:solidFill>
                  <a:schemeClr val="accent2"/>
                </a:solidFill>
                <a:latin typeface="Consolas" panose="020B0609020204030204" pitchFamily="49" charset="0"/>
              </a:rPr>
              <a:t>) AS </a:t>
            </a:r>
            <a:r>
              <a:rPr lang="en-US" sz="1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dominant_genre</a:t>
            </a:r>
            <a:endParaRPr lang="en-US" sz="10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chemeClr val="accent2"/>
                </a:solidFill>
                <a:latin typeface="Consolas" panose="020B0609020204030204" pitchFamily="49" charset="0"/>
              </a:rPr>
              <a:t>FROM </a:t>
            </a:r>
            <a:r>
              <a:rPr lang="en-US" sz="1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netflix_data</a:t>
            </a:r>
            <a:endParaRPr lang="en-US" sz="10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chemeClr val="accent2"/>
                </a:solidFill>
                <a:latin typeface="Consolas" panose="020B0609020204030204" pitchFamily="49" charset="0"/>
              </a:rPr>
              <a:t>GROUP BY country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chemeClr val="accent2"/>
                </a:solidFill>
                <a:latin typeface="Consolas" panose="020B0609020204030204" pitchFamily="49" charset="0"/>
              </a:rPr>
              <a:t>ORDER BY </a:t>
            </a:r>
            <a:r>
              <a:rPr lang="en-US" sz="1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total_titles</a:t>
            </a:r>
            <a:r>
              <a:rPr lang="en-US" sz="1000" dirty="0">
                <a:solidFill>
                  <a:schemeClr val="accent2"/>
                </a:solidFill>
                <a:latin typeface="Consolas" panose="020B0609020204030204" pitchFamily="49" charset="0"/>
              </a:rPr>
              <a:t> DESC</a:t>
            </a:r>
          </a:p>
        </p:txBody>
      </p:sp>
      <p:sp>
        <p:nvSpPr>
          <p:cNvPr id="8" name="Text 6"/>
          <p:cNvSpPr/>
          <p:nvPr/>
        </p:nvSpPr>
        <p:spPr>
          <a:xfrm>
            <a:off x="750912" y="332772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Schema Design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0912" y="3598069"/>
            <a:ext cx="3685952" cy="877411"/>
          </a:xfrm>
          <a:prstGeom prst="roundRect">
            <a:avLst>
              <a:gd name="adj" fmla="val 15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755675" y="3602831"/>
            <a:ext cx="3676427" cy="2710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66403" y="3659460"/>
            <a:ext cx="124673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Row Key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39355" y="3659460"/>
            <a:ext cx="198201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Column Family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55675" y="3873847"/>
            <a:ext cx="3676427" cy="2710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866403" y="3930476"/>
            <a:ext cx="124673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release_year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39355" y="3930476"/>
            <a:ext cx="198201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stats:total_titles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5675" y="4144863"/>
            <a:ext cx="3676427" cy="2710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66403" y="4201492"/>
            <a:ext cx="124673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country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39355" y="4201492"/>
            <a:ext cx="198201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stats:dominant_genre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89E50CA-DA2E-6806-E6D2-2DF75CE139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49" t="47150" r="28456" b="1684"/>
          <a:stretch>
            <a:fillRect/>
          </a:stretch>
        </p:blipFill>
        <p:spPr>
          <a:xfrm>
            <a:off x="4718160" y="17502"/>
            <a:ext cx="4425840" cy="364195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E1BFECA-655C-6865-ED77-B03DE37B0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395" y="3734517"/>
            <a:ext cx="4389605" cy="1408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362" y="360090"/>
            <a:ext cx="28242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Business Insights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5359" y="1103900"/>
            <a:ext cx="4924276" cy="618753"/>
          </a:xfrm>
          <a:prstGeom prst="roundRect">
            <a:avLst>
              <a:gd name="adj" fmla="val 2739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485029" y="1137493"/>
            <a:ext cx="143537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🎬</a:t>
            </a: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Movies Dominate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8322" y="1365986"/>
            <a:ext cx="469835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Movies outnumber TV Shows, reflecting Netflix's film-first strategy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5360" y="1990130"/>
            <a:ext cx="4924276" cy="618753"/>
          </a:xfrm>
          <a:prstGeom prst="roundRect">
            <a:avLst>
              <a:gd name="adj" fmla="val 2739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08322" y="203904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📈</a:t>
            </a: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Post-2015 Surge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8320" y="2277859"/>
            <a:ext cx="469835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Content production accelerated sharply after 2015 with original investments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5362" y="2895265"/>
            <a:ext cx="4924276" cy="618753"/>
          </a:xfrm>
          <a:prstGeom prst="roundRect">
            <a:avLst>
              <a:gd name="adj" fmla="val 2739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508321" y="297215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🌎</a:t>
            </a: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USA Leads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8322" y="3164421"/>
            <a:ext cx="469835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United States contributes the highest volume of content globally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5361" y="3873140"/>
            <a:ext cx="4924276" cy="618753"/>
          </a:xfrm>
          <a:prstGeom prst="roundRect">
            <a:avLst>
              <a:gd name="adj" fmla="val 2739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508322" y="3904662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🎭</a:t>
            </a: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Genre Trends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8321" y="4133106"/>
            <a:ext cx="469835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Drama and International Movies dominate; mature ratings are most common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79B160-9E8B-EEE6-30BB-641A64803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086" y="4873620"/>
            <a:ext cx="1338914" cy="254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4650"/>
          <a:stretch>
            <a:fillRect/>
          </a:stretch>
        </p:blipFill>
        <p:spPr>
          <a:xfrm>
            <a:off x="5715000" y="0"/>
            <a:ext cx="3429000" cy="49043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7920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Challenges &amp; Learning Outcomes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137246"/>
            <a:ext cx="2188443" cy="1967582"/>
          </a:xfrm>
          <a:prstGeom prst="roundRect">
            <a:avLst>
              <a:gd name="adj" fmla="val 4647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2"/>
          <p:cNvSpPr/>
          <p:nvPr/>
        </p:nvSpPr>
        <p:spPr>
          <a:xfrm>
            <a:off x="477069" y="2137246"/>
            <a:ext cx="76200" cy="1967582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714077" y="2298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661270"/>
            <a:ext cx="1809676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Hadoop configuration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Spark setup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Handling missing data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HBase integration complexity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35201" y="2137246"/>
            <a:ext cx="2188443" cy="1918022"/>
          </a:xfrm>
          <a:prstGeom prst="roundRect">
            <a:avLst>
              <a:gd name="adj" fmla="val 4767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3016151" y="2137246"/>
            <a:ext cx="76200" cy="1918022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3253160" y="2298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Learning Outcomes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253160" y="2661270"/>
            <a:ext cx="1809676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Working with Hadoop ecosystem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Distributed data processing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Big data querying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CE2076-B5FF-30D0-E95C-C3D29A8A7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086" y="4873620"/>
            <a:ext cx="1338914" cy="254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128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46870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477069" y="1746870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14077" y="1907679"/>
            <a:ext cx="24726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End-to-End Big Data Pipeline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214190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a complete analytics workflow on the Netflix dataset using the Hadoop ecosystem.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746870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623792" y="1746870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860801" y="1907679"/>
            <a:ext cx="21431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Scalable Data Processing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60801" y="2214190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Used HDFS for storage, Spark for distributed processing, and Hive for efficient querying.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970386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477069" y="2970386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714077" y="31311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Actionable Insights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4077" y="343770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Uncovered trends in content growth, genres, country-wise production, and audience ratings.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970386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623792" y="2970386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860801" y="31311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Practical Impact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60801" y="3437706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Integrated HBase for fast retrieval and strengthened skills in scalable, real-world analytics.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660</Words>
  <Application>Microsoft Office PowerPoint</Application>
  <PresentationFormat>On-screen Show (16:9)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Consolas</vt:lpstr>
      <vt:lpstr>MuseoModerno Medium</vt:lpstr>
      <vt:lpstr>Wingdings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noor ul huda batool</cp:lastModifiedBy>
  <cp:revision>6</cp:revision>
  <dcterms:created xsi:type="dcterms:W3CDTF">2026-05-09T16:08:27Z</dcterms:created>
  <dcterms:modified xsi:type="dcterms:W3CDTF">2026-05-09T17:28:08Z</dcterms:modified>
</cp:coreProperties>
</file>